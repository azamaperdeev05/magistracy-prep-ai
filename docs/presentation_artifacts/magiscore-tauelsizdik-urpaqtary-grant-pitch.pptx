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658368"/>
            <a:ext cx="219456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740664"/>
            <a:ext cx="1993391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ТӘУЕЛСІЗДІК ҰРПАҚТАРЫ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61872"/>
            <a:ext cx="512064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111111"/>
                </a:solidFill>
                <a:latin typeface="Helvetica Neue"/>
              </a:rPr>
              <a:t>MagisCore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148840"/>
            <a:ext cx="493776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Helvetica Neue"/>
              </a:rPr>
              <a:t>Қазақстандағы магистратураға дайындалуға арналған AI негізіндегі
цифрлық білім беру платформасы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230368"/>
            <a:ext cx="38404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Пердеев Азамат Райымбекұлы</a:t>
            </a:r>
          </a:p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Ақпараттық технологиялар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950976"/>
            <a:ext cx="59893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96128" y="1060704"/>
            <a:ext cx="5769864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42432" y="1161288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07024" y="1161288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71616" y="1161288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444752"/>
            <a:ext cx="5769864" cy="39227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21240" y="1124712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1207008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LIVE MVP</a:t>
            </a:r>
          </a:p>
        </p:txBody>
      </p:sp>
      <p:pic>
        <p:nvPicPr>
          <p:cNvPr id="15" name="Picture 14" descr="logo no bg, 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5989320"/>
            <a:ext cx="34747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49224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Мәселе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Қазақстанда магистратураға дайындық әлі де жүйесіз және шашыраңқы.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Helvetica Neue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10312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қазақ тіліндегі дайындық платформалары 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Helvetica Neue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670048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оқу материалдары шашыраңқы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8687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Helvetica Neue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236975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дайындық жүйесіз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85615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Helvetica Neue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803903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КТ емтиханына арналған сапалы сервис жоқ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645920"/>
            <a:ext cx="2029968" cy="1005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892808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Helvetica Neue"/>
              </a:rPr>
              <a:t>Материал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221992"/>
            <a:ext cx="157276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Helvetica Neue"/>
              </a:rPr>
              <a:t>PDF, чат, әртүрлі файл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50808" y="1645920"/>
            <a:ext cx="2029968" cy="100584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892808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Helvetica Neue"/>
              </a:rPr>
              <a:t>Тест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221992"/>
            <a:ext cx="157276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Helvetica Neue"/>
              </a:rPr>
              <a:t>нақты симулятор жоқ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3035808"/>
            <a:ext cx="2029968" cy="1005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328269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Helvetica Neue"/>
              </a:rPr>
              <a:t>Аналитика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3611880"/>
            <a:ext cx="157276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Helvetica Neue"/>
              </a:rPr>
              <a:t>прогресс көрінбейді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50808" y="3035808"/>
            <a:ext cx="2029968" cy="10058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328269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Helvetica Neue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4" y="3611880"/>
            <a:ext cx="157276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Helvetica Neue"/>
              </a:rPr>
              <a:t>жеке түсіндіру жоқ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82896"/>
            <a:ext cx="2971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11111"/>
                </a:solidFill>
                <a:latin typeface="Helvetica Neue"/>
              </a:rPr>
              <a:t>Оқушы уақыт жоғалтады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49224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Шешім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MagisCore - дайындықты бір жүйеге жинайтын AI платформа.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84248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002536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КТ симуляторы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441448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AI түсіндіру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80360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Теория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00984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319272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Аналитика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39896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758183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197096"/>
            <a:ext cx="3200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Оқу жоспары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225296"/>
            <a:ext cx="6720840" cy="457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18888" y="1335024"/>
            <a:ext cx="6501383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65192" y="1435608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29784" y="1435608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94376" y="1435608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es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719072"/>
            <a:ext cx="6501383" cy="396849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875520" y="1399032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104" y="1481328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TEST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6751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Қазіргі нәтиже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Идея емес. Жұмыс істейтін web-платформа бар.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05740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76856"/>
            <a:ext cx="18745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563EB"/>
                </a:solidFill>
                <a:latin typeface="Helvetica Neue"/>
              </a:rPr>
              <a:t>18+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1874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пайдаланушы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05740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276856"/>
            <a:ext cx="18745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111111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880360"/>
            <a:ext cx="1874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8464" y="205740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76856"/>
            <a:ext cx="18745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2C55E"/>
                </a:solidFill>
                <a:latin typeface="Helvetica Neue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880360"/>
            <a:ext cx="1874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өзім әзірледім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276856"/>
            <a:ext cx="18745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563EB"/>
                </a:solidFill>
                <a:latin typeface="Helvetica Neue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880360"/>
            <a:ext cx="1874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интеграцияланған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81328" y="4160520"/>
            <a:ext cx="9235440" cy="914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4471416"/>
            <a:ext cx="84582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11111"/>
                </a:solidFill>
                <a:latin typeface="Helvetica Neue"/>
              </a:rPr>
              <a:t>MagisCore қазір тіркелу, тест тапсыру, нәтиже көру, AI түсіндіру және тарих сақтау функцияларымен жұмыс істейді.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03504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Платформа мүмкіндіктері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0350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Бір өнім ішінде тест, AI және аналитика.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" y="210312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3113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130552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Қате сұрақты түсіндіреді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81527" y="1874519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00983" y="210312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3" y="223113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30552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478024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Нәтиже мен прогресс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3248" y="1874519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32704" y="210312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2704" y="223113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30552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78024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КТ форматына жақын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108960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" y="333756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46557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3364991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Theory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3712463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Қысқа теория блоктары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81527" y="3108960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00983" y="333756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0983" y="346557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64991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712463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Кеңейтілген режим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13248" y="3108960"/>
            <a:ext cx="201168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32704" y="3337560"/>
            <a:ext cx="530352" cy="530352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32704" y="3465576"/>
            <a:ext cx="53035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Helvetica Neue"/>
              </a:rPr>
              <a:t>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64991"/>
            <a:ext cx="9326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Helvetica Neue"/>
              </a:rP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12463"/>
            <a:ext cx="93268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Helvetica Neue"/>
              </a:rPr>
              <a:t>Тарих және басқару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1344168"/>
            <a:ext cx="2971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93607" y="1453895"/>
            <a:ext cx="2752344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39911" y="1554480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04503" y="1554480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69095" y="1554480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837943"/>
            <a:ext cx="2752344" cy="1453895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9601200" y="1517904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01784" y="1600200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HOME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3529584"/>
            <a:ext cx="345643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836407" y="3639312"/>
            <a:ext cx="3236976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82711" y="3739896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47303" y="3739896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11895" y="3739896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ai-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7" y="4023360"/>
            <a:ext cx="3236976" cy="154533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9628632" y="3703320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29215" y="3785615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583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AI қалай көмектеседі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Платформа оқушының қатесін түсінікті әрекет жоспарына айналдырады.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4813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642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Пайдаланушы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8736" y="1984248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1671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500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Тест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736" y="2670048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8529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358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AI талдайды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3355848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35387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216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Қате сұрақтарды түсіндіреді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4041648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42245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4074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Жеке оқу жоспарын береді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4727448"/>
            <a:ext cx="3657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4910328"/>
            <a:ext cx="315468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093208"/>
            <a:ext cx="2834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11111"/>
                </a:solidFill>
                <a:latin typeface="Helvetica Neue"/>
              </a:rPr>
              <a:t>Прогресті бақылайды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1901952"/>
            <a:ext cx="2907792" cy="208483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3607" y="2011680"/>
            <a:ext cx="2688336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9911" y="2112264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04503" y="2112264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69095" y="2112264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2395728"/>
            <a:ext cx="2688336" cy="1481327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537192" y="2075688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7776" y="2157984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AI CHAT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" y="1883664"/>
            <a:ext cx="2423160" cy="224028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Helvetica Neue"/>
              </a:rPr>
              <a:t>Нәтиже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2798064"/>
            <a:ext cx="190195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Helvetica Neue"/>
              </a:rPr>
              <a:t>Әр оқушыға бірдей материал емес,
өз қатесіне негізделген түсіндіру.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03504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Даму жоспары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0350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2026 жылы MVP-ден ұлттық EdTech өнімге өту.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42032"/>
            <a:ext cx="12801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563EB"/>
                </a:solidFill>
                <a:latin typeface="Helvetica Neue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761488"/>
            <a:ext cx="8778240" cy="27432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9424" y="2624328"/>
            <a:ext cx="283464" cy="2834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3090672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128 мамандық</a:t>
            </a:r>
          </a:p>
        </p:txBody>
      </p:sp>
      <p:sp>
        <p:nvSpPr>
          <p:cNvPr id="10" name="Oval 9"/>
          <p:cNvSpPr/>
          <p:nvPr/>
        </p:nvSpPr>
        <p:spPr>
          <a:xfrm>
            <a:off x="3767328" y="2624328"/>
            <a:ext cx="283464" cy="28346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3657600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Android</a:t>
            </a:r>
          </a:p>
        </p:txBody>
      </p:sp>
      <p:sp>
        <p:nvSpPr>
          <p:cNvPr id="12" name="Oval 11"/>
          <p:cNvSpPr/>
          <p:nvPr/>
        </p:nvSpPr>
        <p:spPr>
          <a:xfrm>
            <a:off x="5285231" y="2624328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5" y="3090672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iOS</a:t>
            </a:r>
          </a:p>
        </p:txBody>
      </p:sp>
      <p:sp>
        <p:nvSpPr>
          <p:cNvPr id="14" name="Oval 13"/>
          <p:cNvSpPr/>
          <p:nvPr/>
        </p:nvSpPr>
        <p:spPr>
          <a:xfrm>
            <a:off x="6803136" y="2624328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3657600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AI оқу жоспары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624328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3" y="3090672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Онлайн төлем</a:t>
            </a:r>
          </a:p>
        </p:txBody>
      </p:sp>
      <p:sp>
        <p:nvSpPr>
          <p:cNvPr id="18" name="Oval 17"/>
          <p:cNvSpPr/>
          <p:nvPr/>
        </p:nvSpPr>
        <p:spPr>
          <a:xfrm>
            <a:off x="9838943" y="2624328"/>
            <a:ext cx="283464" cy="283464"/>
          </a:xfrm>
          <a:prstGeom prst="ellipse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3657600"/>
            <a:ext cx="12984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Helvetica Neue"/>
              </a:rPr>
              <a:t>5000+ пайдаланушы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74920"/>
            <a:ext cx="10515600" cy="62179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303520"/>
            <a:ext cx="9966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0">
                <a:solidFill>
                  <a:srgbClr val="64748B"/>
                </a:solidFill>
                <a:latin typeface="Helvetica Neue"/>
              </a:rPr>
              <a:t>Грант негізгі өнімді масштабтауға және мобильді экожүйеге шығаруға жұмсалады.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03504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Әлеуметтік әсері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0350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MagisCore білімге қолжетімділікті арттырады.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2926080" cy="2926080"/>
          </a:xfrm>
          <a:prstGeom prst="ellipse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743200"/>
            <a:ext cx="19659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2563EB"/>
                </a:solidFill>
                <a:latin typeface="Helvetica Neue"/>
              </a:rPr>
              <a:t>KZ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502152"/>
            <a:ext cx="1965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Helvetica Neue"/>
              </a:rPr>
              <a:t>жастары үшін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92224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1810512"/>
            <a:ext cx="4937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Қазақ тіліндегі сапалы білім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50591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468879"/>
            <a:ext cx="4937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Магистратураға дайындық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108960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127248"/>
            <a:ext cx="4937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Барлығына қолжетімді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767328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3785615"/>
            <a:ext cx="4937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Қолжетімді баға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25696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4443983"/>
            <a:ext cx="4937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EdTech дамыту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7132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Грант қалай пайдаланылады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2 000 000 ₸ өнімді дамытуға және масштабтауға бағытталады.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64208"/>
            <a:ext cx="4462272" cy="38221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066543"/>
            <a:ext cx="36118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11111"/>
                </a:solidFill>
                <a:latin typeface="Helvetica Neue"/>
              </a:rPr>
              <a:t>2 000 000 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15184"/>
            <a:ext cx="3611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Helvetica Neue"/>
              </a:rPr>
              <a:t>грант бюджеті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3273552"/>
            <a:ext cx="1083564" cy="457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00884" y="3273552"/>
            <a:ext cx="722376" cy="45720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3260" y="3273552"/>
            <a:ext cx="722376" cy="4572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45636" y="3273552"/>
            <a:ext cx="541782" cy="45720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7418" y="3273552"/>
            <a:ext cx="361188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8606" y="3273552"/>
            <a:ext cx="180594" cy="4572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114800"/>
            <a:ext cx="36118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Helvetica Neue"/>
              </a:rPr>
              <a:t>AI + Content + Mobile бірінші кезекте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901952"/>
            <a:ext cx="164592" cy="16459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82880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182880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30%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1901952"/>
            <a:ext cx="164592" cy="164592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182880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182880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20%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2724912"/>
            <a:ext cx="164592" cy="16459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65176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Mobile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265176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20%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0" y="2724912"/>
            <a:ext cx="164592" cy="164592"/>
          </a:xfrm>
          <a:prstGeom prst="ellipse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5088" y="265176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265176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15%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3547872"/>
            <a:ext cx="164592" cy="164592"/>
          </a:xfrm>
          <a:prstGeom prst="ellips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47472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4" y="347472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10%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3547872"/>
            <a:ext cx="164592" cy="16459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347472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11111"/>
                </a:solidFill>
                <a:latin typeface="Helvetica Neue"/>
              </a:rPr>
              <a:t>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474720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50" b="1">
                <a:solidFill>
                  <a:srgbClr val="64748B"/>
                </a:solidFill>
                <a:latin typeface="Helvetica Neue"/>
              </a:rPr>
              <a:t>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572000"/>
            <a:ext cx="4315968" cy="62179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800600"/>
            <a:ext cx="3858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80" b="0">
                <a:solidFill>
                  <a:srgbClr val="64748B"/>
                </a:solidFill>
                <a:latin typeface="Helvetica Neue"/>
              </a:rPr>
              <a:t>Негізгі басымдық: AI сапасы, контент және мобильді қосымша.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713232"/>
            <a:ext cx="105156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795528"/>
            <a:ext cx="85039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86868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Қазақстандағы №1 магистратура платформасы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79776"/>
            <a:ext cx="20574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99232"/>
            <a:ext cx="1691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563EB"/>
                </a:solidFill>
                <a:latin typeface="Helvetica Neue"/>
              </a:rPr>
              <a:t>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02736"/>
            <a:ext cx="1691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мамандық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779776"/>
            <a:ext cx="20574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999232"/>
            <a:ext cx="1691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2C55E"/>
                </a:solidFill>
                <a:latin typeface="Helvetica Neue"/>
              </a:rPr>
              <a:t>5000+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02736"/>
            <a:ext cx="1691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пайдаланушы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779776"/>
            <a:ext cx="20574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999232"/>
            <a:ext cx="1691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563EB"/>
                </a:solidFill>
                <a:latin typeface="Helvetica Neue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602736"/>
            <a:ext cx="1691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жеке оқу жоспары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79776"/>
            <a:ext cx="20574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999232"/>
            <a:ext cx="16916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111111"/>
                </a:solidFill>
                <a:latin typeface="Helvetica Neue"/>
              </a:rPr>
              <a:t>Android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602736"/>
            <a:ext cx="1691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мобильді қосымша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4709160"/>
            <a:ext cx="162763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19" y="4928616"/>
            <a:ext cx="1261872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500" b="1">
                <a:solidFill>
                  <a:srgbClr val="2563EB"/>
                </a:solidFill>
                <a:latin typeface="Helvetica Neue"/>
              </a:rPr>
              <a:t>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19" y="5532120"/>
            <a:ext cx="126187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Helvetica Neue"/>
              </a:rPr>
              <a:t>мобильді қосымша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327648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Helvetica Neue"/>
              </a:rPr>
              <a:t>MagisCore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27648"/>
            <a:ext cx="502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Helvetica Neue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658368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1"/>
                </a:solidFill>
                <a:latin typeface="Helvetica Neue"/>
              </a:rPr>
              <a:t>Неге дәл MagisCore?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44752"/>
            <a:ext cx="63093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Helvetica Neue"/>
              </a:rPr>
              <a:t>Комиссия үшін ең маңызды дәлел - өнім қазірдің өзінде жұмыс істейді.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956816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MVP дайын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38528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956816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Жұмыс істейді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706624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18 пайдаланушы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88336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706624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AI қолданылған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38144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456432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Жалғыз әзірлеуші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438144"/>
            <a:ext cx="25603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456432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Helvetica Neue"/>
              </a:rPr>
              <a:t>Нақты даму жоспары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4069080"/>
            <a:ext cx="406908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0256" y="4178808"/>
            <a:ext cx="3849624" cy="31089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6560" y="4279392"/>
            <a:ext cx="64008" cy="6400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31152" y="4279392"/>
            <a:ext cx="64008" cy="640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95744" y="4279392"/>
            <a:ext cx="64008" cy="6400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go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4562856"/>
            <a:ext cx="3849624" cy="96926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025128" y="4242816"/>
            <a:ext cx="118872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4325112"/>
            <a:ext cx="987552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Helvetica Neue"/>
              </a:rPr>
              <a:t>TGO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590288"/>
            <a:ext cx="4480560" cy="82296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901184"/>
            <a:ext cx="3886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66534"/>
                </a:solidFill>
                <a:latin typeface="Helvetica Neue"/>
              </a:rPr>
              <a:t>Грант тәуекелі төмен: өнім нөлден басталмайды.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 no bg,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21792"/>
            <a:ext cx="438912" cy="640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1371600"/>
            <a:ext cx="43891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 Neue"/>
              </a:rPr>
              <a:t>Рахмет!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331720"/>
            <a:ext cx="521208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Helvetica Neue"/>
              </a:rPr>
              <a:t>MagisCore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Helvetica Neue"/>
              </a:rPr>
              <a:t>Қазақстандағы магистратураға дайындалуға арналған AI платформасы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243584"/>
            <a:ext cx="4434840" cy="3794760"/>
          </a:xfrm>
          <a:prstGeom prst="roundRect">
            <a:avLst/>
          </a:prstGeom>
          <a:solidFill>
            <a:srgbClr val="1F293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4304" y="1682496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Helvetica Neue"/>
              </a:rP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4304" y="1920240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93C5FD"/>
                </a:solidFill>
                <a:latin typeface="Helvetica Neue"/>
              </a:rPr>
              <a:t>https://magis-core.vercel.app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4304" y="2432304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Helvetica Neue"/>
              </a:rPr>
              <a:t>Автор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4304" y="2670048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Helvetica Neue"/>
              </a:rPr>
              <a:t>Пердеев Азамат Райымбекұлы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4" y="318211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Helvetica Neue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304" y="3419856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93C5FD"/>
                </a:solidFill>
                <a:latin typeface="Helvetica Neue"/>
              </a:rPr>
              <a:t>azamaperdeev05@gmail.com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3931920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Helvetica Neue"/>
              </a:rPr>
              <a:t>Телефон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4169664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Helvetica Neue"/>
              </a:rPr>
              <a:t>+7 747 850 18 22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6089904"/>
            <a:ext cx="3474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Helvetica Neue"/>
              </a:rPr>
              <a:t>"Тәуелсіздік ұрпақтары" гранты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